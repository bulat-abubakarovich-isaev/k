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20"/>
  </p:notesMasterIdLst>
  <p:handoutMasterIdLst>
    <p:handoutMasterId r:id="rId21"/>
  </p:handoutMasterIdLst>
  <p:sldIdLst>
    <p:sldId id="276" r:id="rId2"/>
    <p:sldId id="277" r:id="rId3"/>
    <p:sldId id="278" r:id="rId4"/>
    <p:sldId id="279" r:id="rId5"/>
    <p:sldId id="280" r:id="rId6"/>
    <p:sldId id="281" r:id="rId7"/>
    <p:sldId id="282" r:id="rId8"/>
    <p:sldId id="283" r:id="rId9"/>
    <p:sldId id="284" r:id="rId10"/>
    <p:sldId id="285" r:id="rId11"/>
    <p:sldId id="286" r:id="rId12"/>
    <p:sldId id="287" r:id="rId13"/>
    <p:sldId id="288" r:id="rId14"/>
    <p:sldId id="289" r:id="rId15"/>
    <p:sldId id="290" r:id="rId16"/>
    <p:sldId id="291" r:id="rId17"/>
    <p:sldId id="292" r:id="rId18"/>
    <p:sldId id="293" r:id="rId19"/>
  </p:sldIdLst>
  <p:sldSz cx="12192000" cy="6858000"/>
  <p:notesSz cx="6858000" cy="9144000"/>
  <p:defaultTextStyle>
    <a:defPPr rtl="0"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онструктор, трансформация, добавление заметок, совместная работа, помощник" id="{B9B51309-D148-4332-87C2-07BE32FBCA3B}">
          <p14:sldIdLst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Автор" initials="A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24726"/>
    <a:srgbClr val="404040"/>
    <a:srgbClr val="FF9B45"/>
    <a:srgbClr val="DD462F"/>
    <a:srgbClr val="F8CFB6"/>
    <a:srgbClr val="F8CAB6"/>
    <a:srgbClr val="923922"/>
    <a:srgbClr val="F5F5F5"/>
    <a:srgbClr val="F2F2F2"/>
    <a:srgbClr val="D2B4A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241" autoAdjust="0"/>
  </p:normalViewPr>
  <p:slideViewPr>
    <p:cSldViewPr snapToGrid="0">
      <p:cViewPr varScale="1">
        <p:scale>
          <a:sx n="110" d="100"/>
          <a:sy n="110" d="100"/>
        </p:scale>
        <p:origin x="76" y="41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3" d="100"/>
          <a:sy n="93" d="100"/>
        </p:scale>
        <p:origin x="295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commentAuthors" Target="commentAuthor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3EF2CABD-ADFB-4662-86FE-964DAD288E0E}" type="datetime1">
              <a:rPr lang="ru-RU" smtClean="0"/>
              <a:t>05.02.2026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ru-RU" noProof="0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8B812D4-DBF0-450F-B19D-420CCD76CB60}" type="datetime1">
              <a:rPr lang="ru-RU" smtClean="0"/>
              <a:pPr/>
              <a:t>05.02.2026</a:t>
            </a:fld>
            <a:endParaRPr lang="ru-RU" dirty="0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ru-RU" noProof="0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ru-RU" noProof="0"/>
              <a:t>Щелкните, чтобы изменить стили текста образца слайда</a:t>
            </a:r>
          </a:p>
          <a:p>
            <a:pPr lvl="1" rtl="0"/>
            <a:r>
              <a:rPr lang="ru-RU" noProof="0"/>
              <a:t>Второй уровень</a:t>
            </a:r>
          </a:p>
          <a:p>
            <a:pPr lvl="2" rtl="0"/>
            <a:r>
              <a:rPr lang="ru-RU" noProof="0"/>
              <a:t>Третий уровень</a:t>
            </a:r>
          </a:p>
          <a:p>
            <a:pPr lvl="3" rtl="0"/>
            <a:r>
              <a:rPr lang="ru-RU" noProof="0"/>
              <a:t>Четвертый уровень</a:t>
            </a:r>
          </a:p>
          <a:p>
            <a:pPr lvl="4" rtl="0"/>
            <a:r>
              <a:rPr lang="ru-RU" noProof="0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ru-RU" noProof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DF61EA0F-A667-4B49-8422-0062BC55E249}" type="slidenum">
              <a:rPr lang="ru-RU" noProof="0" smtClean="0"/>
              <a:t>‹#›</a:t>
            </a:fld>
            <a:endParaRPr lang="ru-RU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48221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4739873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3082113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5259459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1510252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9410224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ru-RU" smtClean="0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0399431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ru-RU" smtClean="0"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3465204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797085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6836827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ru-RU" smtClean="0"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1198525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ru-RU" smtClean="0"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1386711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ru-RU" smtClean="0"/>
              <a:t>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5650347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ru-RU" smtClean="0"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848641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ru-RU" smtClean="0"/>
              <a:t>15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0427008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ru-RU" smtClean="0"/>
              <a:t>16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5527705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ru-RU" smtClean="0"/>
              <a:t>17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9926155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ru-RU" smtClean="0"/>
              <a:t>18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275284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sz="1800" noProof="0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ru-RU" noProof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ru-RU" sz="1800" noProof="0"/>
          </a:p>
        </p:txBody>
      </p:sp>
      <p:cxnSp>
        <p:nvCxnSpPr>
          <p:cNvPr id="12" name="Прямая соединительная линия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Заголовок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</a:defRPr>
            </a:lvl1pPr>
          </a:lstStyle>
          <a:p>
            <a:pPr rtl="0"/>
            <a:r>
              <a:rPr lang="ru-RU" noProof="0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ru-RU" noProof="0"/>
              <a:t>Щелкните, чтобы изменить стили текста образца слайда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ru-RU" noProof="0"/>
              <a:t>Второй уровень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ru-RU" noProof="0"/>
              <a:t>Третий уровень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ru-RU" noProof="0"/>
              <a:t>Четвертый уровень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ru-RU" noProof="0"/>
              <a:t>Пятый уровень</a:t>
            </a:r>
          </a:p>
        </p:txBody>
      </p:sp>
      <p:sp>
        <p:nvSpPr>
          <p:cNvPr id="6" name="Дата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rtl="0"/>
            <a:fld id="{94BFA7FF-3CFD-4CAD-BB9E-67BC1F4C890D}" type="datetime1">
              <a:rPr lang="ru-RU" noProof="0" smtClean="0"/>
              <a:t>05.02.2026</a:t>
            </a:fld>
            <a:endParaRPr lang="ru-RU" noProof="0"/>
          </a:p>
        </p:txBody>
      </p:sp>
      <p:sp>
        <p:nvSpPr>
          <p:cNvPr id="7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rtl="0"/>
            <a:endParaRPr lang="ru-RU" noProof="0"/>
          </a:p>
        </p:txBody>
      </p:sp>
      <p:sp>
        <p:nvSpPr>
          <p:cNvPr id="8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rtl="0"/>
            <a:fld id="{9860EDB8-5305-433F-BE41-D7A86D811DB3}" type="slidenum">
              <a:rPr lang="ru-RU" noProof="0" smtClean="0"/>
              <a:pPr/>
              <a:t>‹#›</a:t>
            </a:fld>
            <a:endParaRPr lang="ru-RU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sz="1800" noProof="0"/>
          </a:p>
        </p:txBody>
      </p:sp>
      <p:sp>
        <p:nvSpPr>
          <p:cNvPr id="10" name="Прямоугольник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sz="1800" noProof="0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</a:defRPr>
            </a:lvl1pPr>
          </a:lstStyle>
          <a:p>
            <a:pPr rtl="0"/>
            <a:r>
              <a:rPr lang="ru-RU" noProof="0"/>
              <a:t>Образец заголовка</a:t>
            </a:r>
          </a:p>
        </p:txBody>
      </p:sp>
      <p:sp>
        <p:nvSpPr>
          <p:cNvPr id="7" name="Объект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ru-RU" noProof="0"/>
              <a:t>Щелкните, чтобы изменить стили текста образца слайда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ru-RU" noProof="0"/>
              <a:t>Второй уровень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ru-RU" noProof="0"/>
              <a:t>Третий уровень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ru-RU" noProof="0"/>
              <a:t>Четвертый уровень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ru-RU" noProof="0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ru-RU" sz="1800" noProof="0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ru-RU" noProof="0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ru-RU" noProof="0"/>
              <a:t>Щелкните, чтобы изменить стили текста образца слайда</a:t>
            </a:r>
          </a:p>
          <a:p>
            <a:pPr lvl="1" rtl="0"/>
            <a:r>
              <a:rPr lang="ru-RU" noProof="0"/>
              <a:t>Второй уровень</a:t>
            </a:r>
          </a:p>
          <a:p>
            <a:pPr lvl="2" rtl="0"/>
            <a:r>
              <a:rPr lang="ru-RU" noProof="0"/>
              <a:t>Третий уровень</a:t>
            </a:r>
          </a:p>
          <a:p>
            <a:pPr lvl="3" rtl="0"/>
            <a:r>
              <a:rPr lang="ru-RU" noProof="0"/>
              <a:t>Четвертый уровень</a:t>
            </a:r>
          </a:p>
          <a:p>
            <a:pPr lvl="4" rtl="0"/>
            <a:r>
              <a:rPr lang="ru-RU" noProof="0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rtl="0"/>
            <a:fld id="{0E309820-F966-41D6-9A9E-F094402396DD}" type="datetime1">
              <a:rPr lang="ru-RU" noProof="0" smtClean="0"/>
              <a:t>05.02.2026</a:t>
            </a:fld>
            <a:endParaRPr lang="ru-RU" noProof="0" dirty="0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rtl="0"/>
            <a:endParaRPr lang="ru-RU" noProof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rtl="0"/>
            <a:fld id="{9860EDB8-5305-433F-BE41-D7A86D811DB3}" type="slidenum">
              <a:rPr lang="ru-RU" noProof="0" smtClean="0"/>
              <a:pPr/>
              <a:t>‹#›</a:t>
            </a:fld>
            <a:endParaRPr lang="ru-RU" noProof="0"/>
          </a:p>
        </p:txBody>
      </p:sp>
      <p:cxnSp>
        <p:nvCxnSpPr>
          <p:cNvPr id="8" name="Прямая соединительная линия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</p:sldLayoutIdLst>
  <p:hf sldNum="0" hdr="0" ftr="0" dt="0"/>
  <p:txStyles>
    <p:titleStyle>
      <a:lvl1pPr algn="l" defTabSz="914400" rtl="0" eaLnBrk="1" latinLnBrk="0" hangingPunct="1">
        <a:spcBef>
          <a:spcPct val="0"/>
        </a:spcBef>
        <a:buNone/>
        <a:defRPr sz="28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+mn-lt"/>
          <a:ea typeface="+mn-ea"/>
          <a:cs typeface="+mn-cs"/>
        </a:defRPr>
      </a:lvl1pPr>
      <a:lvl2pPr marL="2286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+mn-lt"/>
          <a:ea typeface="+mn-ea"/>
          <a:cs typeface="+mn-cs"/>
        </a:defRPr>
      </a:lvl3pPr>
      <a:lvl4pPr marL="11430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4pPr>
      <a:lvl5pPr marL="16002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5pPr>
      <a:lvl6pPr marL="20574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0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5056065-9236-44D4-9A4C-3AEED7559FF9}"/>
              </a:ext>
            </a:extLst>
          </p:cNvPr>
          <p:cNvSpPr txBox="1"/>
          <p:nvPr/>
        </p:nvSpPr>
        <p:spPr>
          <a:xfrm>
            <a:off x="545430" y="527067"/>
            <a:ext cx="744353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/>
              <a:t>Лабораторная </a:t>
            </a:r>
            <a:r>
              <a:rPr lang="ru-RU"/>
              <a:t>работа №8 </a:t>
            </a:r>
            <a:br>
              <a:rPr lang="ru-RU" dirty="0"/>
            </a:br>
            <a:r>
              <a:rPr lang="ru-RU" dirty="0"/>
              <a:t>Компьютерный практикум по статистическому анализу данных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ADF57C9-A9C7-4DF7-9246-E83B5921883C}"/>
              </a:ext>
            </a:extLst>
          </p:cNvPr>
          <p:cNvSpPr txBox="1"/>
          <p:nvPr/>
        </p:nvSpPr>
        <p:spPr>
          <a:xfrm>
            <a:off x="545430" y="2933382"/>
            <a:ext cx="9801727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/>
              <a:t>Исаев Б. А.</a:t>
            </a:r>
            <a:endParaRPr lang="en-US" dirty="0"/>
          </a:p>
          <a:p>
            <a:endParaRPr lang="en-US" dirty="0"/>
          </a:p>
          <a:p>
            <a:r>
              <a:rPr lang="ru-RU" dirty="0"/>
              <a:t>202</a:t>
            </a:r>
            <a:r>
              <a:rPr lang="en-US" dirty="0"/>
              <a:t>5</a:t>
            </a:r>
            <a:r>
              <a:rPr lang="ru-RU" dirty="0"/>
              <a:t> </a:t>
            </a:r>
            <a:endParaRPr lang="en-US" dirty="0"/>
          </a:p>
          <a:p>
            <a:endParaRPr lang="en-US" dirty="0"/>
          </a:p>
          <a:p>
            <a:r>
              <a:rPr lang="ru-RU" dirty="0"/>
              <a:t>Российский университет дружбы народов имени Патриса Лумумбы, Москва, Россия </a:t>
            </a:r>
          </a:p>
        </p:txBody>
      </p:sp>
    </p:spTree>
    <p:extLst>
      <p:ext uri="{BB962C8B-B14F-4D97-AF65-F5344CB8AC3E}">
        <p14:creationId xmlns:p14="http://schemas.microsoft.com/office/powerpoint/2010/main" val="6427667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5384CBF6-7AD2-40EE-94EF-87D2FB50FA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42414" y="2066735"/>
            <a:ext cx="9107171" cy="272453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10F444B-6F8E-4412-80EA-C6825E25DB35}"/>
              </a:ext>
            </a:extLst>
          </p:cNvPr>
          <p:cNvSpPr txBox="1"/>
          <p:nvPr/>
        </p:nvSpPr>
        <p:spPr>
          <a:xfrm>
            <a:off x="3047999" y="5542365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ru-RU" sz="1800" i="1" dirty="0">
                <a:effectLst/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Рис. 1: Установка менеджера пакетов </a:t>
            </a:r>
            <a:r>
              <a:rPr lang="ru-RU" sz="1800" i="1" dirty="0" err="1">
                <a:effectLst/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Chocolatey</a:t>
            </a:r>
            <a:endParaRPr lang="ru-RU" sz="1800" i="1" dirty="0">
              <a:effectLst/>
              <a:latin typeface="Cambria" panose="02040503050406030204" pitchFamily="18" charset="0"/>
              <a:ea typeface="Cambria" panose="020405030504060302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81B8770-F47A-4CCB-ABCE-E5982004E697}"/>
              </a:ext>
            </a:extLst>
          </p:cNvPr>
          <p:cNvSpPr txBox="1"/>
          <p:nvPr/>
        </p:nvSpPr>
        <p:spPr>
          <a:xfrm>
            <a:off x="513347" y="761637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/>
              <a:t>Установка необходимых приложений </a:t>
            </a:r>
          </a:p>
        </p:txBody>
      </p:sp>
    </p:spTree>
    <p:extLst>
      <p:ext uri="{BB962C8B-B14F-4D97-AF65-F5344CB8AC3E}">
        <p14:creationId xmlns:p14="http://schemas.microsoft.com/office/powerpoint/2010/main" val="14794145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8ADC0EFB-98ED-40F4-8634-4C8774B08A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0493" y="1533260"/>
            <a:ext cx="9231013" cy="379147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61EECBD-DB10-46B1-85C1-99CC47474C69}"/>
              </a:ext>
            </a:extLst>
          </p:cNvPr>
          <p:cNvSpPr txBox="1"/>
          <p:nvPr/>
        </p:nvSpPr>
        <p:spPr>
          <a:xfrm>
            <a:off x="4615506" y="5782997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ru-RU" sz="1800" i="1" dirty="0">
                <a:effectLst/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Рис. 2: Установка Far Manager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A99E092-5F30-44AE-94A3-72F12665EEDA}"/>
              </a:ext>
            </a:extLst>
          </p:cNvPr>
          <p:cNvSpPr txBox="1"/>
          <p:nvPr/>
        </p:nvSpPr>
        <p:spPr>
          <a:xfrm>
            <a:off x="513347" y="761637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/>
              <a:t>Установка необходимых приложений </a:t>
            </a:r>
          </a:p>
        </p:txBody>
      </p:sp>
    </p:spTree>
    <p:extLst>
      <p:ext uri="{BB962C8B-B14F-4D97-AF65-F5344CB8AC3E}">
        <p14:creationId xmlns:p14="http://schemas.microsoft.com/office/powerpoint/2010/main" val="32443861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FD7B85BD-C0A3-4280-8E66-8F706681D3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56783" y="1404117"/>
            <a:ext cx="8478433" cy="456311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701994F-E53B-40F4-A46F-33FD0C7A24F9}"/>
              </a:ext>
            </a:extLst>
          </p:cNvPr>
          <p:cNvSpPr txBox="1"/>
          <p:nvPr/>
        </p:nvSpPr>
        <p:spPr>
          <a:xfrm>
            <a:off x="4239216" y="6184049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ru-RU" sz="1800" i="1" dirty="0">
                <a:effectLst/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Рис. 3: Установка </a:t>
            </a:r>
            <a:r>
              <a:rPr lang="ru-RU" sz="1800" i="1" dirty="0" err="1">
                <a:effectLst/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Notepad</a:t>
            </a:r>
            <a:r>
              <a:rPr lang="ru-RU" sz="1800" i="1" dirty="0">
                <a:effectLst/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++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C062665-87C2-4D63-B7F4-5761E6B144A4}"/>
              </a:ext>
            </a:extLst>
          </p:cNvPr>
          <p:cNvSpPr txBox="1"/>
          <p:nvPr/>
        </p:nvSpPr>
        <p:spPr>
          <a:xfrm>
            <a:off x="513347" y="761637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/>
              <a:t>Установка необходимых приложений </a:t>
            </a:r>
          </a:p>
        </p:txBody>
      </p:sp>
    </p:spTree>
    <p:extLst>
      <p:ext uri="{BB962C8B-B14F-4D97-AF65-F5344CB8AC3E}">
        <p14:creationId xmlns:p14="http://schemas.microsoft.com/office/powerpoint/2010/main" val="9547278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117DD905-3E7D-4187-A280-0727561F3D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61890" y="2090550"/>
            <a:ext cx="5868219" cy="267689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08C1B51-D465-4951-8B4D-A1A796CEEEEA}"/>
              </a:ext>
            </a:extLst>
          </p:cNvPr>
          <p:cNvSpPr txBox="1"/>
          <p:nvPr/>
        </p:nvSpPr>
        <p:spPr>
          <a:xfrm>
            <a:off x="4796590" y="5782996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ru-RU" sz="1800" i="1" dirty="0">
                <a:effectLst/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Рис. 4: Установка </a:t>
            </a:r>
            <a:r>
              <a:rPr lang="ru-RU" sz="1800" i="1" dirty="0" err="1">
                <a:effectLst/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Julia</a:t>
            </a:r>
            <a:endParaRPr lang="ru-RU" sz="1800" i="1" dirty="0">
              <a:effectLst/>
              <a:latin typeface="Cambria" panose="02040503050406030204" pitchFamily="18" charset="0"/>
              <a:ea typeface="Cambria" panose="020405030504060302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FE4F93A-8129-4032-BC6A-5680793BF223}"/>
              </a:ext>
            </a:extLst>
          </p:cNvPr>
          <p:cNvSpPr txBox="1"/>
          <p:nvPr/>
        </p:nvSpPr>
        <p:spPr>
          <a:xfrm>
            <a:off x="513347" y="761637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/>
              <a:t>Установка необходимых приложений </a:t>
            </a:r>
          </a:p>
        </p:txBody>
      </p:sp>
    </p:spTree>
    <p:extLst>
      <p:ext uri="{BB962C8B-B14F-4D97-AF65-F5344CB8AC3E}">
        <p14:creationId xmlns:p14="http://schemas.microsoft.com/office/powerpoint/2010/main" val="9823713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83A6F9DF-C3D5-4867-BF1D-9854691CED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4309" y="1838103"/>
            <a:ext cx="9183382" cy="318179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0BB86DF-19E4-4566-9D61-92137447EDF0}"/>
              </a:ext>
            </a:extLst>
          </p:cNvPr>
          <p:cNvSpPr txBox="1"/>
          <p:nvPr/>
        </p:nvSpPr>
        <p:spPr>
          <a:xfrm>
            <a:off x="3545305" y="5702786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ru-RU" sz="1800" i="1" dirty="0">
                <a:effectLst/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Рис</a:t>
            </a:r>
            <a:r>
              <a:rPr lang="en-US" sz="1800" i="1" dirty="0">
                <a:effectLst/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. 5: </a:t>
            </a:r>
            <a:r>
              <a:rPr lang="ru-RU" sz="1800" i="1" dirty="0">
                <a:effectLst/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Установка</a:t>
            </a:r>
            <a:r>
              <a:rPr lang="en-US" sz="1800" i="1" dirty="0">
                <a:effectLst/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 Anaconda Distribution (Python 3.x)</a:t>
            </a:r>
            <a:endParaRPr lang="ru-RU" sz="1800" i="1" dirty="0">
              <a:effectLst/>
              <a:latin typeface="Cambria" panose="02040503050406030204" pitchFamily="18" charset="0"/>
              <a:ea typeface="Cambria" panose="020405030504060302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C7BC169-0F15-4D84-9B2A-5AD668779A37}"/>
              </a:ext>
            </a:extLst>
          </p:cNvPr>
          <p:cNvSpPr txBox="1"/>
          <p:nvPr/>
        </p:nvSpPr>
        <p:spPr>
          <a:xfrm>
            <a:off x="513347" y="761637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/>
              <a:t>Установка необходимых приложений </a:t>
            </a:r>
          </a:p>
        </p:txBody>
      </p:sp>
    </p:spTree>
    <p:extLst>
      <p:ext uri="{BB962C8B-B14F-4D97-AF65-F5344CB8AC3E}">
        <p14:creationId xmlns:p14="http://schemas.microsoft.com/office/powerpoint/2010/main" val="10538384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E8EF3A6D-9FA1-472E-9549-2DC53F924F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18757" y="1439707"/>
            <a:ext cx="7954485" cy="462027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A4CB074-05FA-4B04-B4D5-70167D0CB6CF}"/>
              </a:ext>
            </a:extLst>
          </p:cNvPr>
          <p:cNvSpPr txBox="1"/>
          <p:nvPr/>
        </p:nvSpPr>
        <p:spPr>
          <a:xfrm>
            <a:off x="3657600" y="6184049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ru-RU" sz="1800" i="1" dirty="0">
                <a:effectLst/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Рис. 6: Установка пакетов для работы с </a:t>
            </a:r>
            <a:r>
              <a:rPr lang="ru-RU" sz="1800" i="1" dirty="0" err="1">
                <a:effectLst/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Jupyter</a:t>
            </a:r>
            <a:endParaRPr lang="ru-RU" sz="1800" i="1" dirty="0">
              <a:effectLst/>
              <a:latin typeface="Cambria" panose="02040503050406030204" pitchFamily="18" charset="0"/>
              <a:ea typeface="Cambria" panose="020405030504060302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BC43336-E9C6-42F9-BD71-846356A2359A}"/>
              </a:ext>
            </a:extLst>
          </p:cNvPr>
          <p:cNvSpPr txBox="1"/>
          <p:nvPr/>
        </p:nvSpPr>
        <p:spPr>
          <a:xfrm>
            <a:off x="513347" y="761637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/>
              <a:t>Установка необходимых приложений </a:t>
            </a:r>
          </a:p>
        </p:txBody>
      </p:sp>
    </p:spTree>
    <p:extLst>
      <p:ext uri="{BB962C8B-B14F-4D97-AF65-F5344CB8AC3E}">
        <p14:creationId xmlns:p14="http://schemas.microsoft.com/office/powerpoint/2010/main" val="21910084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9C43EE66-89BF-4D64-8947-B790334607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5256" y="1518928"/>
            <a:ext cx="9221487" cy="442974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8CF7A9E-D5E6-40EB-9511-A29915F7779C}"/>
              </a:ext>
            </a:extLst>
          </p:cNvPr>
          <p:cNvSpPr txBox="1"/>
          <p:nvPr/>
        </p:nvSpPr>
        <p:spPr>
          <a:xfrm>
            <a:off x="3047999" y="6087796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ru-RU" sz="1800" i="1" dirty="0">
                <a:effectLst/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Рис. 7: Примеры определения типа числовых величин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0770AED-C4BA-4250-832D-00810755CBD6}"/>
              </a:ext>
            </a:extLst>
          </p:cNvPr>
          <p:cNvSpPr txBox="1"/>
          <p:nvPr/>
        </p:nvSpPr>
        <p:spPr>
          <a:xfrm>
            <a:off x="513348" y="724663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/>
              <a:t>Примеры</a:t>
            </a:r>
          </a:p>
        </p:txBody>
      </p:sp>
    </p:spTree>
    <p:extLst>
      <p:ext uri="{BB962C8B-B14F-4D97-AF65-F5344CB8AC3E}">
        <p14:creationId xmlns:p14="http://schemas.microsoft.com/office/powerpoint/2010/main" val="31311934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9B435FC1-E92E-4508-B6B2-4336A936F1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3968" y="2390630"/>
            <a:ext cx="8164064" cy="207674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E20638D-0051-4797-8209-588948EA79B7}"/>
              </a:ext>
            </a:extLst>
          </p:cNvPr>
          <p:cNvSpPr txBox="1"/>
          <p:nvPr/>
        </p:nvSpPr>
        <p:spPr>
          <a:xfrm>
            <a:off x="3048000" y="5863207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ru-RU" sz="1800" i="1" dirty="0">
                <a:effectLst/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Рис. 8: Примеры приведения аргументов к одному типу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175B722-54CC-46D8-9390-4556FCB5881A}"/>
              </a:ext>
            </a:extLst>
          </p:cNvPr>
          <p:cNvSpPr txBox="1"/>
          <p:nvPr/>
        </p:nvSpPr>
        <p:spPr>
          <a:xfrm>
            <a:off x="513348" y="724663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/>
              <a:t>Примеры</a:t>
            </a:r>
          </a:p>
        </p:txBody>
      </p:sp>
    </p:spTree>
    <p:extLst>
      <p:ext uri="{BB962C8B-B14F-4D97-AF65-F5344CB8AC3E}">
        <p14:creationId xmlns:p14="http://schemas.microsoft.com/office/powerpoint/2010/main" val="16015463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63932A0F-0904-4073-9118-A684AC4423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7230" y="1838103"/>
            <a:ext cx="8697539" cy="318179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2F33BE5-C375-4ADF-AABE-393BA449B1BB}"/>
              </a:ext>
            </a:extLst>
          </p:cNvPr>
          <p:cNvSpPr txBox="1"/>
          <p:nvPr/>
        </p:nvSpPr>
        <p:spPr>
          <a:xfrm>
            <a:off x="3914274" y="5831123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ru-RU" sz="1800" i="1" dirty="0">
                <a:effectLst/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Рис. 9: Примеры определения функций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CAF03D3-46DD-429C-BECB-6603FAFBADA2}"/>
              </a:ext>
            </a:extLst>
          </p:cNvPr>
          <p:cNvSpPr txBox="1"/>
          <p:nvPr/>
        </p:nvSpPr>
        <p:spPr>
          <a:xfrm>
            <a:off x="513348" y="724663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/>
              <a:t>Примеры</a:t>
            </a:r>
          </a:p>
        </p:txBody>
      </p:sp>
    </p:spTree>
    <p:extLst>
      <p:ext uri="{BB962C8B-B14F-4D97-AF65-F5344CB8AC3E}">
        <p14:creationId xmlns:p14="http://schemas.microsoft.com/office/powerpoint/2010/main" val="33061652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B1BED566-9EE4-4E08-BCE2-566B8C1ECE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30780" y="1406365"/>
            <a:ext cx="7930440" cy="444900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F2D8463-A125-4817-8EA4-33905602BD62}"/>
              </a:ext>
            </a:extLst>
          </p:cNvPr>
          <p:cNvSpPr txBox="1"/>
          <p:nvPr/>
        </p:nvSpPr>
        <p:spPr>
          <a:xfrm>
            <a:off x="3965220" y="607175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ru-RU" sz="1800" i="1" dirty="0">
                <a:effectLst/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Рис. 10: Примеры работы с массивами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0FDDC69-A7F6-4489-9D55-DD2A153E8911}"/>
              </a:ext>
            </a:extLst>
          </p:cNvPr>
          <p:cNvSpPr txBox="1"/>
          <p:nvPr/>
        </p:nvSpPr>
        <p:spPr>
          <a:xfrm>
            <a:off x="513348" y="724663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/>
              <a:t>Примеры</a:t>
            </a:r>
          </a:p>
        </p:txBody>
      </p:sp>
    </p:spTree>
    <p:extLst>
      <p:ext uri="{BB962C8B-B14F-4D97-AF65-F5344CB8AC3E}">
        <p14:creationId xmlns:p14="http://schemas.microsoft.com/office/powerpoint/2010/main" val="30943099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A9C0B00E-2677-472B-AE84-8F4BD11F36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58690" y="1360957"/>
            <a:ext cx="5874620" cy="454614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FADB599-F230-4305-8085-67C052B9E80F}"/>
              </a:ext>
            </a:extLst>
          </p:cNvPr>
          <p:cNvSpPr txBox="1"/>
          <p:nvPr/>
        </p:nvSpPr>
        <p:spPr>
          <a:xfrm>
            <a:off x="1684421" y="6067524"/>
            <a:ext cx="1094071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ru-RU" sz="1800" i="1" dirty="0">
                <a:effectLst/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Рис. 11: Примеры работы с функциями для чтения/записи/вывода информации на экран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76E3FB2-5FF2-40D0-91B1-C38630883A2E}"/>
              </a:ext>
            </a:extLst>
          </p:cNvPr>
          <p:cNvSpPr txBox="1"/>
          <p:nvPr/>
        </p:nvSpPr>
        <p:spPr>
          <a:xfrm>
            <a:off x="605589" y="726749"/>
            <a:ext cx="63125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/>
              <a:t>Примеры для задания №1 </a:t>
            </a:r>
          </a:p>
        </p:txBody>
      </p:sp>
    </p:spTree>
    <p:extLst>
      <p:ext uri="{BB962C8B-B14F-4D97-AF65-F5344CB8AC3E}">
        <p14:creationId xmlns:p14="http://schemas.microsoft.com/office/powerpoint/2010/main" val="12049060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4C85F244-0653-46AB-8A45-44D96DAC13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42785" y="3095578"/>
            <a:ext cx="6306430" cy="66684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30CA9F0-82BA-4D63-973B-D5BB98177517}"/>
              </a:ext>
            </a:extLst>
          </p:cNvPr>
          <p:cNvSpPr txBox="1"/>
          <p:nvPr/>
        </p:nvSpPr>
        <p:spPr>
          <a:xfrm>
            <a:off x="3737810" y="5718828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ru-RU" sz="1800" i="1" dirty="0">
                <a:effectLst/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Рис. 12: Пример работы с функцией </a:t>
            </a:r>
            <a:r>
              <a:rPr lang="ru-RU" sz="1800" i="1" dirty="0" err="1">
                <a:effectLst/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parse</a:t>
            </a:r>
            <a:endParaRPr lang="ru-RU" sz="1800" i="1" dirty="0">
              <a:effectLst/>
              <a:latin typeface="Cambria" panose="02040503050406030204" pitchFamily="18" charset="0"/>
              <a:ea typeface="Cambria" panose="020405030504060302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62C8341-B20A-4316-87DA-421815315383}"/>
              </a:ext>
            </a:extLst>
          </p:cNvPr>
          <p:cNvSpPr txBox="1"/>
          <p:nvPr/>
        </p:nvSpPr>
        <p:spPr>
          <a:xfrm>
            <a:off x="545432" y="769840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/>
              <a:t>Примеры для задания №2 </a:t>
            </a:r>
          </a:p>
        </p:txBody>
      </p:sp>
    </p:spTree>
    <p:extLst>
      <p:ext uri="{BB962C8B-B14F-4D97-AF65-F5344CB8AC3E}">
        <p14:creationId xmlns:p14="http://schemas.microsoft.com/office/powerpoint/2010/main" val="9651381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44F66372-8FDA-4DD2-88E0-CB7BF3FE1E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79916" y="1314153"/>
            <a:ext cx="4032167" cy="469751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E0DAB82-6461-470E-85C1-B28593EFE655}"/>
              </a:ext>
            </a:extLst>
          </p:cNvPr>
          <p:cNvSpPr txBox="1"/>
          <p:nvPr/>
        </p:nvSpPr>
        <p:spPr>
          <a:xfrm>
            <a:off x="2759242" y="6173887"/>
            <a:ext cx="750770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ru-RU" sz="1800" i="1" dirty="0">
                <a:effectLst/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Рис. 13: Примеры работы базовых математических операций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C1B08A6-C6D2-47A9-B427-B369BDE7F935}"/>
              </a:ext>
            </a:extLst>
          </p:cNvPr>
          <p:cNvSpPr txBox="1"/>
          <p:nvPr/>
        </p:nvSpPr>
        <p:spPr>
          <a:xfrm>
            <a:off x="609600" y="755357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/>
              <a:t>Примеры для задания №3 </a:t>
            </a:r>
          </a:p>
        </p:txBody>
      </p:sp>
    </p:spTree>
    <p:extLst>
      <p:ext uri="{BB962C8B-B14F-4D97-AF65-F5344CB8AC3E}">
        <p14:creationId xmlns:p14="http://schemas.microsoft.com/office/powerpoint/2010/main" val="19679953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5A0C6873-3F20-493A-9A11-0FA17EF8AF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95100" y="1342196"/>
            <a:ext cx="6801799" cy="449713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104E127-614D-473B-A8B6-2210F9FA75C0}"/>
              </a:ext>
            </a:extLst>
          </p:cNvPr>
          <p:cNvSpPr txBox="1"/>
          <p:nvPr/>
        </p:nvSpPr>
        <p:spPr>
          <a:xfrm>
            <a:off x="2919717" y="6029150"/>
            <a:ext cx="68017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ru-RU" sz="1800" i="1" dirty="0">
                <a:effectLst/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Рис. 14: Примеры работы базовых математических операций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A688F70-C061-47B0-9450-FB57668BF88B}"/>
              </a:ext>
            </a:extLst>
          </p:cNvPr>
          <p:cNvSpPr txBox="1"/>
          <p:nvPr/>
        </p:nvSpPr>
        <p:spPr>
          <a:xfrm>
            <a:off x="609600" y="755357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/>
              <a:t>Примеры для задания №3 </a:t>
            </a:r>
          </a:p>
        </p:txBody>
      </p:sp>
    </p:spTree>
    <p:extLst>
      <p:ext uri="{BB962C8B-B14F-4D97-AF65-F5344CB8AC3E}">
        <p14:creationId xmlns:p14="http://schemas.microsoft.com/office/powerpoint/2010/main" val="9524073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2C4B7E5F-FA2A-4473-8445-ACEF494840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27401" y="1431514"/>
            <a:ext cx="5537197" cy="460833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DED26EF-06FE-4E73-823D-459E0FACC06E}"/>
              </a:ext>
            </a:extLst>
          </p:cNvPr>
          <p:cNvSpPr txBox="1"/>
          <p:nvPr/>
        </p:nvSpPr>
        <p:spPr>
          <a:xfrm>
            <a:off x="3327401" y="6184049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ru-RU" sz="1800" i="1" dirty="0">
                <a:effectLst/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Рис. 15: Примеры работы с операциями над матрицами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EECEA28-1411-418B-A719-32D49171B868}"/>
              </a:ext>
            </a:extLst>
          </p:cNvPr>
          <p:cNvSpPr txBox="1"/>
          <p:nvPr/>
        </p:nvSpPr>
        <p:spPr>
          <a:xfrm>
            <a:off x="609600" y="755357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/>
              <a:t>Примеры для задания №</a:t>
            </a:r>
            <a:r>
              <a:rPr lang="en-US" dirty="0"/>
              <a:t>4</a:t>
            </a:r>
            <a:r>
              <a:rPr lang="ru-RU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4301689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CDED26EF-06FE-4E73-823D-459E0FACC06E}"/>
              </a:ext>
            </a:extLst>
          </p:cNvPr>
          <p:cNvSpPr txBox="1"/>
          <p:nvPr/>
        </p:nvSpPr>
        <p:spPr>
          <a:xfrm>
            <a:off x="3048000" y="2879375"/>
            <a:ext cx="609600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ru-RU" dirty="0"/>
              <a:t>• В ходе выполнения лабораторной работы были получены навыки по подготовке рабочего пространства и инструментария для работы с языком программирования </a:t>
            </a:r>
            <a:r>
              <a:rPr lang="ru-RU" dirty="0" err="1"/>
              <a:t>Julia</a:t>
            </a:r>
            <a:r>
              <a:rPr lang="ru-RU" dirty="0"/>
              <a:t>, а также познакомились на простейших примерах с основами синтаксиса </a:t>
            </a:r>
            <a:r>
              <a:rPr lang="ru-RU" dirty="0" err="1"/>
              <a:t>Julia</a:t>
            </a:r>
            <a:endParaRPr lang="ru-RU" sz="1800" i="1" dirty="0">
              <a:effectLst/>
              <a:latin typeface="Cambria" panose="02040503050406030204" pitchFamily="18" charset="0"/>
              <a:ea typeface="Cambria" panose="020405030504060302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EECEA28-1411-418B-A719-32D49171B868}"/>
              </a:ext>
            </a:extLst>
          </p:cNvPr>
          <p:cNvSpPr txBox="1"/>
          <p:nvPr/>
        </p:nvSpPr>
        <p:spPr>
          <a:xfrm>
            <a:off x="609600" y="755357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/>
              <a:t>Вывод</a:t>
            </a:r>
          </a:p>
        </p:txBody>
      </p:sp>
    </p:spTree>
    <p:extLst>
      <p:ext uri="{BB962C8B-B14F-4D97-AF65-F5344CB8AC3E}">
        <p14:creationId xmlns:p14="http://schemas.microsoft.com/office/powerpoint/2010/main" val="740127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CDED26EF-06FE-4E73-823D-459E0FACC06E}"/>
              </a:ext>
            </a:extLst>
          </p:cNvPr>
          <p:cNvSpPr txBox="1"/>
          <p:nvPr/>
        </p:nvSpPr>
        <p:spPr>
          <a:xfrm>
            <a:off x="3048000" y="3429000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it-IT" dirty="0"/>
              <a:t>[1] Julia Documentation: https://docs.julialang.org/en/v1/ </a:t>
            </a:r>
            <a:endParaRPr lang="ru-RU" sz="1800" i="1" dirty="0">
              <a:effectLst/>
              <a:latin typeface="Cambria" panose="02040503050406030204" pitchFamily="18" charset="0"/>
              <a:ea typeface="Cambria" panose="020405030504060302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EECEA28-1411-418B-A719-32D49171B868}"/>
              </a:ext>
            </a:extLst>
          </p:cNvPr>
          <p:cNvSpPr txBox="1"/>
          <p:nvPr/>
        </p:nvSpPr>
        <p:spPr>
          <a:xfrm>
            <a:off x="609600" y="755357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/>
              <a:t>Список литературы. Библиография </a:t>
            </a:r>
          </a:p>
        </p:txBody>
      </p:sp>
    </p:spTree>
    <p:extLst>
      <p:ext uri="{BB962C8B-B14F-4D97-AF65-F5344CB8AC3E}">
        <p14:creationId xmlns:p14="http://schemas.microsoft.com/office/powerpoint/2010/main" val="27034444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theme/theme1.xml><?xml version="1.0" encoding="utf-8"?>
<a:theme xmlns:a="http://schemas.openxmlformats.org/drawingml/2006/main" name="Пользовательские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30_TF10001108_Win32" id="{08D89365-2E4C-432D-9349-8DF9B80AEEA1}" vid="{010FF314-90DF-4A21-BD0D-ADCBA34234AC}"/>
    </a:ext>
  </a:extLst>
</a:theme>
</file>

<file path=ppt/theme/theme2.xml><?xml version="1.0" encoding="utf-8"?>
<a:theme xmlns:a="http://schemas.openxmlformats.org/drawingml/2006/main" name="Тема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{3BF0432E-C854-41CE-93DC-9496EBB535A6}TF2989475c-5427-4edb-9ec1-00f4ce72165b8cae7013_win32-72884f2072f2</Template>
  <TotalTime>10</TotalTime>
  <Words>288</Words>
  <Application>Microsoft Office PowerPoint</Application>
  <PresentationFormat>Широкоэкранный</PresentationFormat>
  <Paragraphs>58</Paragraphs>
  <Slides>18</Slides>
  <Notes>18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18</vt:i4>
      </vt:variant>
    </vt:vector>
  </HeadingPairs>
  <TitlesOfParts>
    <vt:vector size="24" baseType="lpstr">
      <vt:lpstr>Arial</vt:lpstr>
      <vt:lpstr>Calibri</vt:lpstr>
      <vt:lpstr>Cambria</vt:lpstr>
      <vt:lpstr>Segoe UI</vt:lpstr>
      <vt:lpstr>Segoe UI Light</vt:lpstr>
      <vt:lpstr>Пользовательские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Булат Исаев</dc:creator>
  <cp:keywords/>
  <cp:lastModifiedBy>Булат Исаев</cp:lastModifiedBy>
  <cp:revision>5</cp:revision>
  <dcterms:created xsi:type="dcterms:W3CDTF">2025-12-20T16:59:38Z</dcterms:created>
  <dcterms:modified xsi:type="dcterms:W3CDTF">2026-02-04T23:47:47Z</dcterms:modified>
  <cp:version/>
</cp:coreProperties>
</file>