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4" r:id="rId18"/>
    <p:sldId id="295" r:id="rId19"/>
    <p:sldId id="292" r:id="rId20"/>
    <p:sldId id="293" r:id="rId2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4"/>
            <p14:sldId id="295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54" d="100"/>
          <a:sy n="54" d="100"/>
        </p:scale>
        <p:origin x="52" y="16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08.02.2026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08.02.2026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398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821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594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102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102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994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652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70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368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985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867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503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86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2700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338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235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08.02.2026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08.02.2026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</a:t>
            </a:r>
            <a:r>
              <a:rPr lang="ru-RU"/>
              <a:t>работа №8 </a:t>
            </a:r>
            <a:br>
              <a:rPr lang="ru-RU" dirty="0"/>
            </a:br>
            <a:r>
              <a:rPr lang="ru-RU" dirty="0"/>
              <a:t>Компьютерный практикум по статистическому анализу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0F444B-6F8E-4412-80EA-C6825E25DB35}"/>
              </a:ext>
            </a:extLst>
          </p:cNvPr>
          <p:cNvSpPr txBox="1"/>
          <p:nvPr/>
        </p:nvSpPr>
        <p:spPr>
          <a:xfrm>
            <a:off x="3033302" y="60963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1: Линейное программирование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B8770-F47A-4CCB-ABCE-E5982004E697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AA58ED-D2EE-480A-B6F6-556220D77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348" y="1258783"/>
            <a:ext cx="6543303" cy="483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1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1EECBD-DB10-46B1-85C1-99CC47474C69}"/>
              </a:ext>
            </a:extLst>
          </p:cNvPr>
          <p:cNvSpPr txBox="1"/>
          <p:nvPr/>
        </p:nvSpPr>
        <p:spPr>
          <a:xfrm>
            <a:off x="1480492" y="6210509"/>
            <a:ext cx="9231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2: Векторизованные ограничения и целевая функция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9E092-5F30-44AE-94A3-72F12665EEDA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Установка необходимых приложений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E7F37C-314C-4D7E-83A2-A0429B70D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296" y="1257945"/>
            <a:ext cx="5209404" cy="504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8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01994F-E53B-40F4-A46F-33FD0C7A24F9}"/>
              </a:ext>
            </a:extLst>
          </p:cNvPr>
          <p:cNvSpPr txBox="1"/>
          <p:nvPr/>
        </p:nvSpPr>
        <p:spPr>
          <a:xfrm>
            <a:off x="1856783" y="6240377"/>
            <a:ext cx="8478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3: Оптимизация рациона питания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62665-87C2-4D63-B7F4-5761E6B144A4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77DBFC-0E2F-4C68-A375-34E16D0AD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859" y="1262661"/>
            <a:ext cx="5416281" cy="497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2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8C1B51-D465-4951-8B4D-A1A796CEEEEA}"/>
              </a:ext>
            </a:extLst>
          </p:cNvPr>
          <p:cNvSpPr txBox="1"/>
          <p:nvPr/>
        </p:nvSpPr>
        <p:spPr>
          <a:xfrm>
            <a:off x="3150015" y="62502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4: Оптимизация рациона питания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4F93A-8129-4032-BC6A-5680793BF223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3A024B-C889-4123-ABA7-50FB3707C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120" y="1235033"/>
            <a:ext cx="4905759" cy="505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7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BB86DF-19E4-4566-9D61-92137447EDF0}"/>
              </a:ext>
            </a:extLst>
          </p:cNvPr>
          <p:cNvSpPr txBox="1"/>
          <p:nvPr/>
        </p:nvSpPr>
        <p:spPr>
          <a:xfrm>
            <a:off x="3047999" y="6179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</a:t>
            </a:r>
            <a:r>
              <a:rPr lang="en-US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5: </a:t>
            </a: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Оптимизация рациона питания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BC169-0F15-4D84-9B2A-5AD668779A37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DC8F3C-7C97-42C8-9417-40AA6DBFA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104" y="1270659"/>
            <a:ext cx="7341790" cy="490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3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4CB074-05FA-4B04-B4D5-70167D0CB6CF}"/>
              </a:ext>
            </a:extLst>
          </p:cNvPr>
          <p:cNvSpPr txBox="1"/>
          <p:nvPr/>
        </p:nvSpPr>
        <p:spPr>
          <a:xfrm>
            <a:off x="3048000" y="62196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6: Путешествие по миру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43336-E9C6-42F9-BD71-846356A2359A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0464E5-0036-46B1-B16F-8AE0E398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209" y="1246909"/>
            <a:ext cx="3969582" cy="505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0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CF7A9E-D5E6-40EB-9511-A29915F7779C}"/>
              </a:ext>
            </a:extLst>
          </p:cNvPr>
          <p:cNvSpPr txBox="1"/>
          <p:nvPr/>
        </p:nvSpPr>
        <p:spPr>
          <a:xfrm>
            <a:off x="3048000" y="62540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7: Портфельные инвестиции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70AED-C4BA-4250-832D-00810755CBD6}"/>
              </a:ext>
            </a:extLst>
          </p:cNvPr>
          <p:cNvSpPr txBox="1"/>
          <p:nvPr/>
        </p:nvSpPr>
        <p:spPr>
          <a:xfrm>
            <a:off x="513348" y="724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86887A-004E-4C63-B7F1-7DCE19739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358" y="1270660"/>
            <a:ext cx="5783284" cy="500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9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0638D-0051-4797-8209-588948EA79B7}"/>
              </a:ext>
            </a:extLst>
          </p:cNvPr>
          <p:cNvSpPr txBox="1"/>
          <p:nvPr/>
        </p:nvSpPr>
        <p:spPr>
          <a:xfrm>
            <a:off x="3048000" y="62194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8: Портфельные инвестиции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5B722-54CC-46D8-9390-4556FCB5881A}"/>
              </a:ext>
            </a:extLst>
          </p:cNvPr>
          <p:cNvSpPr txBox="1"/>
          <p:nvPr/>
        </p:nvSpPr>
        <p:spPr>
          <a:xfrm>
            <a:off x="513348" y="724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829EE4-0272-4A18-A7C7-E64A2D4ED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727" y="1258783"/>
            <a:ext cx="4702569" cy="502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4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F33BE5-C375-4ADF-AABE-393BA449B1BB}"/>
              </a:ext>
            </a:extLst>
          </p:cNvPr>
          <p:cNvSpPr txBox="1"/>
          <p:nvPr/>
        </p:nvSpPr>
        <p:spPr>
          <a:xfrm>
            <a:off x="3047999" y="62348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9: Портфельные инвестиции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F03D3-46DD-429C-BECB-6603FAFBADA2}"/>
              </a:ext>
            </a:extLst>
          </p:cNvPr>
          <p:cNvSpPr txBox="1"/>
          <p:nvPr/>
        </p:nvSpPr>
        <p:spPr>
          <a:xfrm>
            <a:off x="513348" y="724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E99607-E317-4D64-9ACD-1D34FD611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572" y="1340015"/>
            <a:ext cx="8268854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6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2D8463-A125-4817-8EA4-33905602BD62}"/>
              </a:ext>
            </a:extLst>
          </p:cNvPr>
          <p:cNvSpPr txBox="1"/>
          <p:nvPr/>
        </p:nvSpPr>
        <p:spPr>
          <a:xfrm>
            <a:off x="3048000" y="61677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10: Восстановление изображения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DDC69-A7F6-4489-9D55-DD2A153E8911}"/>
              </a:ext>
            </a:extLst>
          </p:cNvPr>
          <p:cNvSpPr txBox="1"/>
          <p:nvPr/>
        </p:nvSpPr>
        <p:spPr>
          <a:xfrm>
            <a:off x="513348" y="724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9192D1-199F-4F3B-AEBA-339646A3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552" y="617905"/>
            <a:ext cx="3265469" cy="554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0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ADB599-F230-4305-8085-67C052B9E80F}"/>
              </a:ext>
            </a:extLst>
          </p:cNvPr>
          <p:cNvSpPr txBox="1"/>
          <p:nvPr/>
        </p:nvSpPr>
        <p:spPr>
          <a:xfrm>
            <a:off x="625642" y="6261879"/>
            <a:ext cx="10940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11: Восстановление изображения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E3FB2-5FF2-40D0-91B1-C38630883A2E}"/>
              </a:ext>
            </a:extLst>
          </p:cNvPr>
          <p:cNvSpPr txBox="1"/>
          <p:nvPr/>
        </p:nvSpPr>
        <p:spPr>
          <a:xfrm>
            <a:off x="605589" y="726749"/>
            <a:ext cx="631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74A422-1973-4F52-9488-19D842D65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283" y="1235034"/>
            <a:ext cx="4795432" cy="506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0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0CA9F0-82BA-4D63-973B-D5BB98177517}"/>
              </a:ext>
            </a:extLst>
          </p:cNvPr>
          <p:cNvSpPr txBox="1"/>
          <p:nvPr/>
        </p:nvSpPr>
        <p:spPr>
          <a:xfrm>
            <a:off x="3048000" y="61938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12: Восстановление изображения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C8341-B20A-4316-87DA-421815315383}"/>
              </a:ext>
            </a:extLst>
          </p:cNvPr>
          <p:cNvSpPr txBox="1"/>
          <p:nvPr/>
        </p:nvSpPr>
        <p:spPr>
          <a:xfrm>
            <a:off x="545432" y="769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871078-E923-4C28-838F-B792AC95C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02" y="1413855"/>
            <a:ext cx="6211995" cy="467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3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0DAB82-6461-470E-85C1-B28593EFE655}"/>
              </a:ext>
            </a:extLst>
          </p:cNvPr>
          <p:cNvSpPr txBox="1"/>
          <p:nvPr/>
        </p:nvSpPr>
        <p:spPr>
          <a:xfrm>
            <a:off x="2951747" y="6243873"/>
            <a:ext cx="7507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13: Задание 1. Линейное программирование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B08A6-C6D2-47A9-B427-B369BDE7F935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36C8C7-E70E-4211-826A-453EB29FB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34" y="1290182"/>
            <a:ext cx="10431331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9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04E127-614D-473B-A8B6-2210F9FA75C0}"/>
              </a:ext>
            </a:extLst>
          </p:cNvPr>
          <p:cNvSpPr txBox="1"/>
          <p:nvPr/>
        </p:nvSpPr>
        <p:spPr>
          <a:xfrm>
            <a:off x="2030888" y="6162437"/>
            <a:ext cx="8130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14: Задание 2. Линейное программирование. Использование массивов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88F70-C061-47B0-9450-FB57668BF88B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ECC97E-56B3-45AF-8EF9-B960F7A7C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094" y="1246909"/>
            <a:ext cx="4703810" cy="495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0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7999" y="61620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15: Задание 3. Выпуклое программирование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61BEDF-4A20-47DE-A5CA-AE1AE03A2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52400"/>
            <a:ext cx="4583875" cy="491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62315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16: Задание 4. Оптимальная рассадка по залам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0168F4-9F17-4ABD-B946-5E146EEAE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815" y="1246909"/>
            <a:ext cx="4346369" cy="502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6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2939474" y="62048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17: Задание 5. План приготовления кофе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72FF71-AC40-4145-BFC7-242A1A13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228" y="1210673"/>
            <a:ext cx="5636492" cy="497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8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результате выполнения данной лабораторной работы я </a:t>
            </a:r>
            <a:r>
              <a:rPr lang="ru-RU" dirty="0" err="1"/>
              <a:t>оосвоила</a:t>
            </a:r>
            <a:r>
              <a:rPr lang="ru-RU" dirty="0"/>
              <a:t> пакеты </a:t>
            </a:r>
            <a:r>
              <a:rPr lang="ru-RU" dirty="0" err="1"/>
              <a:t>Julia</a:t>
            </a:r>
            <a:r>
              <a:rPr lang="ru-RU" dirty="0"/>
              <a:t> для решения задач оптимизации.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it-IT" dirty="0">
                <a:cs typeface="Arial" panose="020B0604020202020204" pitchFamily="34" charset="0"/>
              </a:rPr>
              <a:t>JuliaLang [</a:t>
            </a:r>
            <a:r>
              <a:rPr lang="ru-RU" dirty="0">
                <a:cs typeface="Arial" panose="020B0604020202020204" pitchFamily="34" charset="0"/>
              </a:rPr>
              <a:t>Электронный ресурс]. 2024 </a:t>
            </a:r>
            <a:r>
              <a:rPr lang="it-IT" dirty="0">
                <a:cs typeface="Arial" panose="020B0604020202020204" pitchFamily="34" charset="0"/>
              </a:rPr>
              <a:t>JuliaLang.org contributors. URL:https://julialang.org/(</a:t>
            </a:r>
            <a:r>
              <a:rPr lang="ru-RU" dirty="0">
                <a:cs typeface="Arial" panose="020B0604020202020204" pitchFamily="34" charset="0"/>
              </a:rPr>
              <a:t>дата обращения: 11.10.2024).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800" i="1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Julia  1.11  Documentation  [</a:t>
            </a:r>
            <a:r>
              <a:rPr lang="ru-RU" sz="1800" i="1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Электронный  ресурс].  2024  </a:t>
            </a:r>
            <a:r>
              <a:rPr lang="en-US" sz="1800" i="1" dirty="0" err="1">
                <a:effectLst/>
                <a:ea typeface="Cambria" panose="02040503050406030204" pitchFamily="18" charset="0"/>
                <a:cs typeface="Arial" panose="020B0604020202020204" pitchFamily="34" charset="0"/>
              </a:rPr>
              <a:t>JuliaLang.orgcontributors</a:t>
            </a:r>
            <a:r>
              <a:rPr lang="en-US" sz="1800" i="1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. URL:https://docs.julialang.org/en/v1/(</a:t>
            </a:r>
            <a:r>
              <a:rPr lang="ru-RU" sz="1800" i="1" dirty="0">
                <a:effectLst/>
                <a:ea typeface="Cambria" panose="02040503050406030204" pitchFamily="18" charset="0"/>
                <a:cs typeface="Arial" panose="020B0604020202020204" pitchFamily="34" charset="0"/>
              </a:rPr>
              <a:t>дата обращения:11.10.2024).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27</TotalTime>
  <Words>307</Words>
  <Application>Microsoft Office PowerPoint</Application>
  <PresentationFormat>Широкоэкранный</PresentationFormat>
  <Paragraphs>65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8</cp:revision>
  <dcterms:created xsi:type="dcterms:W3CDTF">2025-12-20T16:59:38Z</dcterms:created>
  <dcterms:modified xsi:type="dcterms:W3CDTF">2026-02-08T11:00:01Z</dcterms:modified>
  <cp:version/>
</cp:coreProperties>
</file>