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2"/>
  </p:notesMasterIdLst>
  <p:handoutMasterIdLst>
    <p:handoutMasterId r:id="rId63"/>
  </p:handoutMasterIdLst>
  <p:sldIdLst>
    <p:sldId id="276" r:id="rId2"/>
    <p:sldId id="349" r:id="rId3"/>
    <p:sldId id="291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44" r:id="rId55"/>
    <p:sldId id="345" r:id="rId56"/>
    <p:sldId id="346" r:id="rId57"/>
    <p:sldId id="347" r:id="rId58"/>
    <p:sldId id="348" r:id="rId59"/>
    <p:sldId id="292" r:id="rId60"/>
    <p:sldId id="293" r:id="rId6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349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96" y="15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784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712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313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144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522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856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285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572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243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715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697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12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580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1711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7614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2415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0710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9701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014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0607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5719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244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0785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7688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2976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3166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5744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6447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0518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4472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2485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9257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4443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2878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3756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4695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2267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3278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2934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9570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1424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15654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5509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9345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52315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47760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1956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51883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94078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44233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72380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98964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01213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00564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9316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19608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20.12.2025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20.12.2025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№5 </a:t>
            </a:r>
            <a:br>
              <a:rPr lang="ru-RU" dirty="0"/>
            </a:br>
            <a:r>
              <a:rPr lang="ru-RU" dirty="0"/>
              <a:t>Компьютерный практикум по статистическому анализу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Рис. 1: График функции, построенный при помощи </a:t>
            </a:r>
            <a:r>
              <a:rPr lang="ru-RU" dirty="0" err="1"/>
              <a:t>gr</a:t>
            </a:r>
            <a:r>
              <a:rPr lang="ru-RU" dirty="0"/>
              <a:t>()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Основные пакеты для работы с графиками в </a:t>
            </a:r>
            <a:r>
              <a:rPr lang="ru-RU" dirty="0" err="1"/>
              <a:t>Julia</a:t>
            </a:r>
            <a:r>
              <a:rPr lang="ru-RU" dirty="0"/>
              <a:t>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2F930E-9A33-4AC8-A180-FDB5A9E98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32189"/>
            <a:ext cx="4066046" cy="485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7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Рис. 2: График функции, построенный при помощи </a:t>
            </a:r>
            <a:r>
              <a:rPr lang="ru-RU" dirty="0" err="1"/>
              <a:t>pyplot</a:t>
            </a:r>
            <a:r>
              <a:rPr lang="ru-RU" dirty="0"/>
              <a:t>()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Основные пакеты для работы с графиками в Julia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482DA3-C9CF-409F-B27F-9030B7E6F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153" y="1248961"/>
            <a:ext cx="4651110" cy="493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Рис. 3: График функции </a:t>
            </a:r>
            <a:r>
              <a:rPr lang="ru-RU" dirty="0" err="1"/>
              <a:t>sin</a:t>
            </a:r>
            <a:r>
              <a:rPr lang="ru-RU" dirty="0"/>
              <a:t>(x)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Опции при построении графика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E9A2F0-1F60-47FA-9EFD-297562CE2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680" y="1334831"/>
            <a:ext cx="5027088" cy="479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2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Рис. 4: График функции разложения исходной функции в ряд Тейлора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Опции при построении графика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60C4F1-C7F9-49D6-85E7-20239AFB9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07" y="1331737"/>
            <a:ext cx="4795983" cy="485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5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Рис. 5: Графики исходной функции и её разложения в ряд Тейлора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Опции при построении графика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02D91A-6BC8-4DA2-9831-A4331E0AA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207" y="1227220"/>
            <a:ext cx="5194026" cy="481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06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6: Вид графиков после добавления опций при их построении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Опции при построении графика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5CE73E-1CB8-4DBA-9EFE-2B7847AF6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15" y="1315453"/>
            <a:ext cx="3960464" cy="486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7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7: График десяти случайных значений на плоскости (простой точечный график)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Точечный график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6F9EDA-9A60-4EBC-9F20-7F6F64A6F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680" y="1298695"/>
            <a:ext cx="5155425" cy="472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1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5810255"/>
            <a:ext cx="11933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1600" dirty="0"/>
              <a:t>Рис. 8: График пятидесяти случайных значений на плоскости с различными опциями отображения (точечный график с кодированием значения размером точки) </a:t>
            </a:r>
            <a:endParaRPr lang="ru-RU" sz="16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Точечный график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6233CE-21C3-470F-9CBF-866A799E0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180" y="1409418"/>
            <a:ext cx="5839640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7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5923856"/>
            <a:ext cx="11933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9: График пятидесяти случайных значений в пространстве с различными опциями отображения (3-мерный точечный график с кодированием значения размером точки)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Точечный график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E878AF-8725-4318-B3B9-5B38A2E86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259" y="1371313"/>
            <a:ext cx="5601482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6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10: Пример функции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Аппроксимация данных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757559-63E6-45BD-A147-EC9CAB76E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969" y="1580892"/>
            <a:ext cx="5630061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62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11: Пример аппроксимации исходной функции полиномом 5-й степени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Аппроксимация данных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533D1F-E183-4A55-80B8-F5B023F14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917" y="1538023"/>
            <a:ext cx="5668166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5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12: Пример отдельно построенной траектории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Две оси ординат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2DA82B-A157-4984-BA85-6F56611D5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312" y="1709497"/>
            <a:ext cx="5563376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8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13: График функции, заданной в полярных координатах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Полярные координаты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E5ACF0-236A-40E8-82A5-DCFC1BA3C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575" y="1420444"/>
            <a:ext cx="5734850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7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14: Параметрический график кривой на плоскости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Параметрический график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95945A-DC4A-4D2E-AA39-80D513CE8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154" y="1509444"/>
            <a:ext cx="5677692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5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15: Параметрический график кривой в пространстве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Параметрический график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7FF171-44E8-4532-A531-98E17F781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969" y="1509444"/>
            <a:ext cx="5630061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2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16: График поверхности (использована функция surface())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График поверхности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019AC0-378D-4C06-81F8-D6A019DAC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680" y="1385602"/>
            <a:ext cx="5658640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16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17: График поверхности (использована функция plot())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График поверхности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C55F71-D381-43E4-9E10-5D947DD17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627" y="1480865"/>
            <a:ext cx="5696745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18: Сглаженный график поверхности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График поверхности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925E05-2032-43D3-9FC1-163D2BB89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154" y="1315655"/>
            <a:ext cx="4953691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7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Рис. 19: График поверхности с изменённым углом зрения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График поверхности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0C8D75-A220-4C6F-8925-8D8E7E6A1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25208"/>
            <a:ext cx="4887007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9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20: График поверхности, заданной функцией g(x, y) = (3x + y2)| sin(x) + cos(y)|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Линии уровня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33C08D-72DE-48A5-B2F1-A2EEF92D2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049" y="1423707"/>
            <a:ext cx="5029902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2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21: Линии уровня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Линии уровня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2FFA22-8E39-4709-97C6-34C1F83AD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917" y="1680918"/>
            <a:ext cx="4944165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4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22: Линии уровня с заполнением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Линии уровня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70E3D5-8C50-4A89-8851-F122B8E7D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33" y="1585655"/>
            <a:ext cx="4896533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23: График функции h(x, y) = x3 − 3x + y2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Векторные поля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75E513-FC83-4D67-BA59-5A5B82E30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40713"/>
            <a:ext cx="4877481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5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Рис. 24: Линии уровня для функции h(x, y) = x3 − 3x + y2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Векторные поля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1677A0-D90B-4137-B840-7573680CB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33" y="1325621"/>
            <a:ext cx="4854583" cy="481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6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25: Статичный график поверхности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Анимация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030443-9D10-4A5D-85DF-CB198EEDA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917" y="1599944"/>
            <a:ext cx="4944165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7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26: Анимированный график поверхности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Анимация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3C24F4-74DB-4EED-B5C7-270343715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286" y="1399892"/>
            <a:ext cx="5039428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4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27: Большая окружность гипоциклоиды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Гипоциклоида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9F0313-F2EB-4526-A68B-F64FEB10B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144" y="1459538"/>
            <a:ext cx="5105406" cy="464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28: Половина пути гипоциклоиды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Гипоциклоида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0FB362-1AF7-4110-87C5-525E5B5DA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443" y="1295102"/>
            <a:ext cx="5287113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6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29: Малая окружность гипоциклоиды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Гипоциклоида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4DC97C-43A6-4821-875E-628CBC483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628" y="1457050"/>
            <a:ext cx="5334744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2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30: Малая окружность гипоциклоиды с добавлением радиуса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Гипоциклоида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6772FE-43BF-43E9-AC75-8C365DB31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680" y="1342734"/>
            <a:ext cx="5296639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9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31: Малая окружность гипоциклоиды с добавлением радиуса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Гипоциклоида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F49C23-6B69-4C33-9688-28BA323D0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484" y="1327574"/>
            <a:ext cx="5095874" cy="477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31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32: График исходных значений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Errorbars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AEC36F-4A4D-4275-89C9-E0D1E724C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470" y="1339471"/>
            <a:ext cx="5449060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08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33: График исходных значений с отклонениями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Errorbars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79493A-9894-4E1F-B5C4-2EDD98F25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706" y="1666629"/>
            <a:ext cx="5458587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067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34: Поворот графика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Errorbars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E8E51D-FBE6-420D-A048-F26FB2968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943" y="1666629"/>
            <a:ext cx="5468113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0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35: Заполнение цветом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Errorbars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9151BE-970B-4089-B5FD-F58930AB1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470" y="1652339"/>
            <a:ext cx="5449060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0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36: График ошибок по двум осям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Errorbars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A05BBD-2609-4A63-94BD-92086FE21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338" y="1227897"/>
            <a:ext cx="4959641" cy="479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7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37: График асимметричных ошибок по двум осям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Errorbars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5D9DDE-2C71-42EC-B1DF-31E9FEECD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391" y="1380839"/>
            <a:ext cx="5325218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6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38: Гистограмма, построенная по массиву случайных чисел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Использование пакета </a:t>
            </a:r>
            <a:r>
              <a:rPr lang="en-US" dirty="0"/>
              <a:t>Distributions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F77775-82F7-4D7A-893D-C18B83324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759" y="1434734"/>
            <a:ext cx="5420481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9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39: Гистограмма нормального распределения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Использование пакета </a:t>
            </a:r>
            <a:r>
              <a:rPr lang="en-US"/>
              <a:t>Distributions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B92DC7-36AF-4CEA-B8CE-63CAE2D0E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285" y="1415681"/>
            <a:ext cx="5401429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4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40: Гистограмма распределения людей по возрастам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Использование пакета </a:t>
            </a:r>
            <a:r>
              <a:rPr lang="en-US"/>
              <a:t>Distributions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C7D728-2B7A-426D-BB22-2EF6655CC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689" y="1294670"/>
            <a:ext cx="4802316" cy="471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8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41: Серия из 4-х графиков в ряд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Подграфики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E56160-3339-4D91-972E-E8E6CEF85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417" y="1420444"/>
            <a:ext cx="5487166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0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42: Серия из 4-х графиков в сетке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Подграфики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194556-2155-4835-AD74-BCEB01E62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522" y="1618997"/>
            <a:ext cx="5410955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4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43: Объединение нескольких графиков в одной сетке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Подграфики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C5DD75-B697-4FB3-B69B-39F58137C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114" y="1274643"/>
            <a:ext cx="5425465" cy="4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4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44: Разнообразные варианты представления данных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Подграфики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9FEE46-0D99-4F1C-B2FF-FB817A07D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996" y="1218897"/>
            <a:ext cx="5430008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1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45: Демонстрация применения сложного макета для построения графиков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Подграфики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5E7EF1-5F60-406D-92F3-8DC8B034F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470" y="1420444"/>
            <a:ext cx="5449060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2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46: Решение задания №1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CE03F4-0147-411D-8D11-D8FD9F5F8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270863"/>
            <a:ext cx="4938775" cy="491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2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47: Решение задания №2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4AE0DA-FE32-4F1A-9019-261CDB575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332" y="1212656"/>
            <a:ext cx="4475029" cy="497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48: Решение задания №3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F0C318-05C6-42A7-A490-B11BDA5F1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424" y="1348346"/>
            <a:ext cx="4168846" cy="461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5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49: Решение задания №4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18EFCF-71C5-453A-B81D-04A7A4804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653" y="1344234"/>
            <a:ext cx="5858693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dirty="0"/>
              <a:t>Рис. 50: Решение задания №5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5107A3-C4DC-43A3-BDE8-DA1F70722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011" y="1247061"/>
            <a:ext cx="5457978" cy="463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7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51: Решение задания №5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705E4E-284C-4332-9CB3-9D702ECF9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759" y="1325181"/>
            <a:ext cx="5782482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37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52: Решение задания №6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BB2B06-6E71-455A-8032-0C540DCD6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460" y="1312373"/>
            <a:ext cx="6319079" cy="47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6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53: Решение задания №7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448238-7B1D-4A31-8CF9-433B4E0BE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074" y="1320418"/>
            <a:ext cx="5915851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4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54: Решение задания №8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151603-0F48-4D0B-BDFB-980BBE08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785" y="1270250"/>
            <a:ext cx="5907920" cy="491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9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55: Решение задания №9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34DC71-0D7D-413C-A482-2D7CCED52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395" y="1350768"/>
            <a:ext cx="5351210" cy="47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3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56: Решение задания №10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92C83E-034B-42FD-B87A-2D51E1403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517" y="1263133"/>
            <a:ext cx="5856966" cy="490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8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57: Решение задания №11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07B8CF-19D8-41F3-8660-184C8C3D3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07" y="1330117"/>
            <a:ext cx="4929479" cy="477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1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был освоен синтаксис языка </a:t>
            </a:r>
            <a:r>
              <a:rPr lang="ru-RU" dirty="0" err="1"/>
              <a:t>Julia</a:t>
            </a:r>
            <a:r>
              <a:rPr lang="ru-RU" dirty="0"/>
              <a:t> для построения графиков.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/>
              <a:t>[1] Julia Documentation: https://docs.julialang.org/en/v1/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35</TotalTime>
  <Words>829</Words>
  <Application>Microsoft Office PowerPoint</Application>
  <PresentationFormat>Широкоэкранный</PresentationFormat>
  <Paragraphs>184</Paragraphs>
  <Slides>60</Slides>
  <Notes>60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6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16</cp:revision>
  <dcterms:created xsi:type="dcterms:W3CDTF">2025-12-20T16:59:38Z</dcterms:created>
  <dcterms:modified xsi:type="dcterms:W3CDTF">2025-12-20T19:32:21Z</dcterms:modified>
  <cp:version/>
</cp:coreProperties>
</file>