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276" r:id="rId2"/>
    <p:sldId id="291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31" r:id="rId41"/>
    <p:sldId id="332" r:id="rId42"/>
    <p:sldId id="333" r:id="rId43"/>
    <p:sldId id="334" r:id="rId44"/>
    <p:sldId id="292" r:id="rId45"/>
    <p:sldId id="293" r:id="rId46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онструктор, трансформация, добавление заметок, совместная работа, помощник" id="{B9B51309-D148-4332-87C2-07BE32FBCA3B}">
          <p14:sldIdLst>
            <p14:sldId id="276"/>
            <p14:sldId id="291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60" d="100"/>
          <a:sy n="60" d="100"/>
        </p:scale>
        <p:origin x="96" y="15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2CABD-ADFB-4662-86FE-964DAD288E0E}" type="datetime1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12D4-DBF0-450F-B19D-420CCD76CB60}" type="datetime1">
              <a:rPr lang="ru-RU" smtClean="0"/>
              <a:pPr/>
              <a:t>20.12.2025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2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27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833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094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173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95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607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318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23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857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101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385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336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831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793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82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2356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9346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7915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6658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5884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5072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418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8594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396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5734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1582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5046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3295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80351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6270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4669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8180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944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931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0180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8758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9230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0405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7647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1687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11684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615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528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cxnSp>
        <p:nvCxnSpPr>
          <p:cNvPr id="12" name="Прямая соединительная линия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4BFA7FF-3CFD-4CAD-BB9E-67BC1F4C890D}" type="datetime1">
              <a:rPr lang="ru-RU" noProof="0" smtClean="0"/>
              <a:t>20.12.2025</a:t>
            </a:fld>
            <a:endParaRPr lang="ru-RU" noProof="0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10" name="Прямоугольник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Щелкните, чтобы изменить стили текста образца слайда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Второй уровень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Третий уровень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Четвертый уровень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1800" noProof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0E309820-F966-41D6-9A9E-F094402396DD}" type="datetime1">
              <a:rPr lang="ru-RU" noProof="0" smtClean="0"/>
              <a:t>20.12.2025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56065-9236-44D4-9A4C-3AEED7559FF9}"/>
              </a:ext>
            </a:extLst>
          </p:cNvPr>
          <p:cNvSpPr txBox="1"/>
          <p:nvPr/>
        </p:nvSpPr>
        <p:spPr>
          <a:xfrm>
            <a:off x="545430" y="527067"/>
            <a:ext cx="7443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Лабораторная работа №7 </a:t>
            </a:r>
            <a:br>
              <a:rPr lang="ru-RU" dirty="0"/>
            </a:br>
            <a:r>
              <a:rPr lang="ru-RU" dirty="0"/>
              <a:t>Компьютерный практикум по статистическому анализу данных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F57C9-A9C7-4DF7-9246-E83B5921883C}"/>
              </a:ext>
            </a:extLst>
          </p:cNvPr>
          <p:cNvSpPr txBox="1"/>
          <p:nvPr/>
        </p:nvSpPr>
        <p:spPr>
          <a:xfrm>
            <a:off x="545430" y="2933382"/>
            <a:ext cx="98017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Исаев Б. 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202</a:t>
            </a:r>
            <a:r>
              <a:rPr lang="en-US" dirty="0"/>
              <a:t>5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/>
              <a:t>Российский университет дружбы народов имени Патриса Лумумбы, Москва, Россия </a:t>
            </a:r>
          </a:p>
        </p:txBody>
      </p:sp>
    </p:spTree>
    <p:extLst>
      <p:ext uri="{BB962C8B-B14F-4D97-AF65-F5344CB8AC3E}">
        <p14:creationId xmlns:p14="http://schemas.microsoft.com/office/powerpoint/2010/main" val="64276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1: Установка пакетов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Считывание данных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553A6A-F17D-4635-A882-5C5563005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598" y="1915840"/>
            <a:ext cx="8426803" cy="389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2: Считывание данных и запись в структуру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Считывание данных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3180BA-ED14-4E6F-98C6-F0FA36133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646" y="2377372"/>
            <a:ext cx="8640708" cy="251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7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3: Пример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Считывание данных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FB25FF-BACD-4824-8563-EAE765B25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862" y="2843510"/>
            <a:ext cx="9820276" cy="128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1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4: Поиск “julia” со строчной буквы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Считывание данных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93FD30-8DA2-4D07-886E-F929E3128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613" y="2893697"/>
            <a:ext cx="9464774" cy="107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335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5: Изменение исходной функции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Считывание данных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BE1A48-EE04-4B33-94D7-DCCB15E67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870" y="2656377"/>
            <a:ext cx="7818260" cy="194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6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6: Построчное считывание данных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Считывание данных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075973-178E-481E-AE8F-B48F6EA73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46" y="1435428"/>
            <a:ext cx="6392108" cy="435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1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7: Запись данных в файл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Запись данных в файл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7FBDEAD-5A12-41CB-AB0F-CD5826C61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818" y="2726246"/>
            <a:ext cx="8988364" cy="166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03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8: Пример с указанием типа данных и разделителем данных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Запись данных в файл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7ED7CF4-E53D-4D0C-99C9-D0AC785B9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983" y="2868473"/>
            <a:ext cx="7902033" cy="149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8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9: Проверка корректности считывания созданного текстового файла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Запись данных в файл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B734A2-67CD-45AD-8609-2E1B73954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011" y="1657370"/>
            <a:ext cx="6241977" cy="414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0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10: Инициализация словаря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Словари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9261826-8040-4948-8C84-5B1055129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123" y="2687531"/>
            <a:ext cx="5931753" cy="148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7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11: Инициализация пустого словаря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Словари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0F6D1E-FB73-4920-A29C-542926AA7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872" y="2740536"/>
            <a:ext cx="6068255" cy="181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004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12: Заполнение словаря данными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Словари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78BCE1-FF5E-4000-9C62-91CCE410C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992" y="2200683"/>
            <a:ext cx="7624016" cy="277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27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13: Пример работы словаря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Словари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446B14-B580-4BBC-8435-005CCE191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839" y="2868472"/>
            <a:ext cx="9312321" cy="167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6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14: Пример создания структуры DataFrame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DataFrames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F3E962-C07B-43BD-89F0-5421A5C49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076" y="1868876"/>
            <a:ext cx="7915847" cy="358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15: Работа с пакетом RDatasets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RDatasets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3048FB-2D0F-45EA-A240-F2B04BB2D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440" y="2529299"/>
            <a:ext cx="8903119" cy="234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7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16: Получение основных статических сведений о каждом столбце в наборе данных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RDatasets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D10567-EA55-4E97-8A82-17A113E7D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375" y="2226704"/>
            <a:ext cx="7595250" cy="316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17: Использование “отсутствующего” типа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переменными отсутствующего типа (Missing Values)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D3D587-5E89-4294-8587-8894CB1C1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380" y="2442322"/>
            <a:ext cx="8203239" cy="199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2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18: Операция сложения числа и переменной с отсутствующим типом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переменными отсутствующего типа (Missing Values)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7621E7-DDE8-4888-AB94-58CA8A1B1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874" y="3023141"/>
            <a:ext cx="7598252" cy="145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19: Пример работы с данными, среди которых есть данные с отсутствующим типом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переменными отсутствующего типа (Missing Values)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7AADBE8-D4F0-48F4-A051-B506A5F0C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67" y="2734341"/>
            <a:ext cx="7345866" cy="193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16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20: Игнорирование отсутствующего типа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переменными отсутствующего типа (Missing Values)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562086-C6DD-490D-A96F-970D47C52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393" y="2453088"/>
            <a:ext cx="8403214" cy="26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8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21: Формирование таблиц данных и их объединение в один фрейм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Работа с переменными отсутствующего типа (Missing Values)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E97ADC-58D9-4C47-B0BE-1ABE17546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198" y="2140472"/>
            <a:ext cx="8007604" cy="336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43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22: Подключение пакетов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FileIO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57C0D8-41D1-45AC-971F-3DB5BAE2F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637" y="2630982"/>
            <a:ext cx="9912725" cy="218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23: Загрузка изображения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FileIO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D3F892-6B15-45EE-8C5C-5D26E6B60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131" y="2035587"/>
            <a:ext cx="8235738" cy="356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75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24: Определение типа и размера данных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FileIO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A02563-905F-4DEA-A265-FEBF1C9D5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089" y="3165273"/>
            <a:ext cx="9795822" cy="132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25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25: Подключение нужных пакетов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8308" y="546810"/>
            <a:ext cx="10975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Обработка данных: стандартные алгоритмы машинного обучения в </a:t>
            </a:r>
            <a:r>
              <a:rPr lang="ru-RU" dirty="0" err="1"/>
              <a:t>Julia</a:t>
            </a:r>
            <a:r>
              <a:rPr lang="ru-RU" dirty="0"/>
              <a:t>. Кластеризация данных. Метод k-средних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C08EA9-B636-4584-9DAD-6E49504AB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367" y="2695741"/>
            <a:ext cx="7425266" cy="235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68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26: Загрузка данных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FB291-F39C-4209-856C-3458C0F7F672}"/>
              </a:ext>
            </a:extLst>
          </p:cNvPr>
          <p:cNvSpPr txBox="1"/>
          <p:nvPr/>
        </p:nvSpPr>
        <p:spPr>
          <a:xfrm>
            <a:off x="608308" y="546810"/>
            <a:ext cx="10975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Обработка данных: стандартные алгоритмы машинного обучения в </a:t>
            </a:r>
            <a:r>
              <a:rPr lang="ru-RU" dirty="0" err="1"/>
              <a:t>Julia</a:t>
            </a:r>
            <a:r>
              <a:rPr lang="ru-RU" dirty="0"/>
              <a:t>. Кластеризация данных. Метод k-средних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8A8AD4-BCD4-431A-9F3F-8CD54D062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22" y="1261489"/>
            <a:ext cx="5244667" cy="482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27: Построение графика цен на недвижимость в зависимости от площади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B589F-ACF4-45B4-8609-9376DF7A4B17}"/>
              </a:ext>
            </a:extLst>
          </p:cNvPr>
          <p:cNvSpPr txBox="1"/>
          <p:nvPr/>
        </p:nvSpPr>
        <p:spPr>
          <a:xfrm>
            <a:off x="608308" y="546810"/>
            <a:ext cx="10975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Обработка данных: стандартные алгоритмы машинного обучения в </a:t>
            </a:r>
            <a:r>
              <a:rPr lang="ru-RU" dirty="0" err="1"/>
              <a:t>Julia</a:t>
            </a:r>
            <a:r>
              <a:rPr lang="ru-RU" dirty="0"/>
              <a:t>. Кластеризация данных. Метод k-средних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776498-64D4-49C2-A4B1-9FF9257C5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653" y="1490392"/>
            <a:ext cx="5858693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054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28: Построение графика без “артефактов”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89435-6068-4462-8FB2-CEC843CC0213}"/>
              </a:ext>
            </a:extLst>
          </p:cNvPr>
          <p:cNvSpPr txBox="1"/>
          <p:nvPr/>
        </p:nvSpPr>
        <p:spPr>
          <a:xfrm>
            <a:off x="608308" y="546810"/>
            <a:ext cx="10975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Обработка данных: стандартные алгоритмы машинного обучения в </a:t>
            </a:r>
            <a:r>
              <a:rPr lang="ru-RU" dirty="0" err="1"/>
              <a:t>Julia</a:t>
            </a:r>
            <a:r>
              <a:rPr lang="ru-RU" dirty="0"/>
              <a:t>. Кластеризация данных. Метод k-средних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46DEC8-9B27-484C-9E9B-A087BDAD7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917" y="1528497"/>
            <a:ext cx="5668166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5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29: Построение графика с кластерами разных цветов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0ACEF-E799-4D9D-B1D1-8248C1B27099}"/>
              </a:ext>
            </a:extLst>
          </p:cNvPr>
          <p:cNvSpPr txBox="1"/>
          <p:nvPr/>
        </p:nvSpPr>
        <p:spPr>
          <a:xfrm>
            <a:off x="608308" y="546810"/>
            <a:ext cx="10975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Обработка данных: стандартные алгоритмы машинного обучения в </a:t>
            </a:r>
            <a:r>
              <a:rPr lang="ru-RU" dirty="0" err="1"/>
              <a:t>Julia</a:t>
            </a:r>
            <a:r>
              <a:rPr lang="ru-RU" dirty="0"/>
              <a:t>. Кластеризация данных. Метод k-средних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DB01EF-AF31-42ED-9D82-5498220AD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769" y="1443818"/>
            <a:ext cx="5334462" cy="39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6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30: Построение графика с кластерами разных цветов по почтовому индексу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12498-27C2-4082-869D-DA74F70C9289}"/>
              </a:ext>
            </a:extLst>
          </p:cNvPr>
          <p:cNvSpPr txBox="1"/>
          <p:nvPr/>
        </p:nvSpPr>
        <p:spPr>
          <a:xfrm>
            <a:off x="608308" y="546810"/>
            <a:ext cx="10975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Обработка данных: стандартные алгоритмы машинного обучения в </a:t>
            </a:r>
            <a:r>
              <a:rPr lang="ru-RU" dirty="0" err="1"/>
              <a:t>Julia</a:t>
            </a:r>
            <a:r>
              <a:rPr lang="ru-RU" dirty="0"/>
              <a:t>. Кластеризация данных. Метод k-средних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F58327-64D3-4F87-9FD0-2FB251B8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468" y="1302249"/>
            <a:ext cx="5811061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31: Отображение на графике соседей выбранного объекта недвижимости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Кластеризация данных. Метод k ближайших соседей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5D65F7-4BC6-4C43-9321-C9D339FF4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758" y="1343579"/>
            <a:ext cx="4205705" cy="462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2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32: Определение районов соседних домов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Кластеризация данных. Метод k ближайших соседей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CB70E6-D598-46AA-B6D8-3911253B9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567" y="2341019"/>
            <a:ext cx="7074866" cy="296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8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33: Попытка уменьшения размера данных о цене и площади из набора данных домов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Обработка данных. Метод главных компонент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B32C66-D91F-43B9-8383-9A82FA4D4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142" y="2262024"/>
            <a:ext cx="7385715" cy="320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512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34: Исходные данные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Обработка данных. Линейная регрессия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D40081-1B02-418B-A8CA-FAE7FDD80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357" y="1630544"/>
            <a:ext cx="7069286" cy="435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70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35: Применение функции для построения графика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Обработка данных. Линейная регрессия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DABED7-36A1-4E07-9B32-414F8BA19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943" y="1263268"/>
            <a:ext cx="5830114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7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36: Сравнение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Обработка данных. Линейная регрессия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FAFA0E-1D70-46B2-969F-DE09E3E56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417" y="1458550"/>
            <a:ext cx="5849166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6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37: Решение задания №1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5DC911-2139-4E9F-AB83-2136A5D66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284" y="1382339"/>
            <a:ext cx="7935432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364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38: Решение задания №2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E50471-1BFB-4548-BB6C-07F7F9C16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84" y="1912561"/>
            <a:ext cx="7823031" cy="394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5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39: Решение задания №2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619256-9D06-48A1-BAF0-B55ED3FDF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115" y="1329688"/>
            <a:ext cx="6111770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9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40: Решение задания №3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B2C23E-0558-4820-9598-B9A0402F0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855" y="1272615"/>
            <a:ext cx="5141984" cy="491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0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41: Решение задания №3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B0890A-8147-44D6-A6FC-2E390F480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931" y="2903299"/>
            <a:ext cx="9740137" cy="147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92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0" y="6184049"/>
            <a:ext cx="11933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/>
              <a:t>Рис. 42: Решение задания №3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599" y="755357"/>
            <a:ext cx="10975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Самостоятельная работа 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71691F-3DC2-4B5B-A8FA-55D4C5C95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274" y="2280313"/>
            <a:ext cx="9689452" cy="296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3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287937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• В ходе выполнения лабораторной работы были изучены специализированные пакеты </a:t>
            </a:r>
            <a:r>
              <a:rPr lang="ru-RU" dirty="0" err="1"/>
              <a:t>Julia</a:t>
            </a:r>
            <a:r>
              <a:rPr lang="ru-RU" dirty="0"/>
              <a:t> для обработки данных.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Вывод</a:t>
            </a:r>
          </a:p>
        </p:txBody>
      </p:sp>
    </p:spTree>
    <p:extLst>
      <p:ext uri="{BB962C8B-B14F-4D97-AF65-F5344CB8AC3E}">
        <p14:creationId xmlns:p14="http://schemas.microsoft.com/office/powerpoint/2010/main" val="7401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D26EF-06FE-4E73-823D-459E0FACC06E}"/>
              </a:ext>
            </a:extLst>
          </p:cNvPr>
          <p:cNvSpPr txBox="1"/>
          <p:nvPr/>
        </p:nvSpPr>
        <p:spPr>
          <a:xfrm>
            <a:off x="304800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dirty="0"/>
              <a:t>[1] Julia Documentation: https://docs.julialang.org/en/v1/ </a:t>
            </a:r>
            <a:endParaRPr lang="ru-RU" sz="1800" i="1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CEA28-1411-418B-A719-32D49171B868}"/>
              </a:ext>
            </a:extLst>
          </p:cNvPr>
          <p:cNvSpPr txBox="1"/>
          <p:nvPr/>
        </p:nvSpPr>
        <p:spPr>
          <a:xfrm>
            <a:off x="609600" y="7553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Список литературы. Библиография </a:t>
            </a:r>
          </a:p>
        </p:txBody>
      </p:sp>
    </p:spTree>
    <p:extLst>
      <p:ext uri="{BB962C8B-B14F-4D97-AF65-F5344CB8AC3E}">
        <p14:creationId xmlns:p14="http://schemas.microsoft.com/office/powerpoint/2010/main" val="270344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30_TF10001108_Win3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{3BF0432E-C854-41CE-93DC-9496EBB535A6}TF2989475c-5427-4edb-9ec1-00f4ce72165b8cae7013_win32-72884f2072f2</Template>
  <TotalTime>44</TotalTime>
  <Words>701</Words>
  <Application>Microsoft Office PowerPoint</Application>
  <PresentationFormat>Широкоэкранный</PresentationFormat>
  <Paragraphs>139</Paragraphs>
  <Slides>45</Slides>
  <Notes>45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51" baseType="lpstr">
      <vt:lpstr>Arial</vt:lpstr>
      <vt:lpstr>Calibri</vt:lpstr>
      <vt:lpstr>Cambria</vt:lpstr>
      <vt:lpstr>Segoe UI</vt:lpstr>
      <vt:lpstr>Segoe UI Light</vt:lpstr>
      <vt:lpstr>Пользовательские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Булат Исаев</dc:creator>
  <cp:keywords/>
  <cp:lastModifiedBy>Булат Исаев</cp:lastModifiedBy>
  <cp:revision>13</cp:revision>
  <dcterms:created xsi:type="dcterms:W3CDTF">2025-12-20T16:59:38Z</dcterms:created>
  <dcterms:modified xsi:type="dcterms:W3CDTF">2025-12-20T20:40:47Z</dcterms:modified>
  <cp:version/>
</cp:coreProperties>
</file>